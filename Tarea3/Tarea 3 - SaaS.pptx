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Lato"/>
      <p:regular r:id="rId14"/>
      <p:bold r:id="rId15"/>
      <p:italic r:id="rId16"/>
      <p:boldItalic r:id="rId17"/>
    </p:embeddedFont>
    <p:embeddedFont>
      <p:font typeface="Newsreader"/>
      <p:regular r:id="rId18"/>
      <p:bold r:id="rId19"/>
      <p:italic r:id="rId20"/>
      <p:boldItalic r:id="rId21"/>
    </p:embeddedFont>
    <p:embeddedFont>
      <p:font typeface="DM Sans Light"/>
      <p:regular r:id="rId22"/>
      <p:bold r:id="rId23"/>
      <p:italic r:id="rId24"/>
      <p:boldItalic r:id="rId25"/>
    </p:embeddedFont>
    <p:embeddedFont>
      <p:font typeface="DM Sans SemiBold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  <p:embeddedFont>
      <p:font typeface="Newsreader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33" Type="http://schemas.openxmlformats.org/officeDocument/2006/relationships/font" Target="fonts/DMSans-boldItalic.fntdata"/><Relationship Id="rId32" Type="http://schemas.openxmlformats.org/officeDocument/2006/relationships/font" Target="fonts/DMSans-italic.fntdata"/><Relationship Id="rId35" Type="http://schemas.openxmlformats.org/officeDocument/2006/relationships/font" Target="fonts/NewsreaderSemiBold-bold.fntdata"/><Relationship Id="rId34" Type="http://schemas.openxmlformats.org/officeDocument/2006/relationships/font" Target="fonts/NewsreaderSemiBold-regular.fntdata"/><Relationship Id="rId37" Type="http://schemas.openxmlformats.org/officeDocument/2006/relationships/font" Target="fonts/NewsreaderSemiBold-boldItalic.fntdata"/><Relationship Id="rId36" Type="http://schemas.openxmlformats.org/officeDocument/2006/relationships/font" Target="fonts/NewsreaderSemiBold-italic.fntdata"/><Relationship Id="rId20" Type="http://schemas.openxmlformats.org/officeDocument/2006/relationships/font" Target="fonts/Newsreader-italic.fntdata"/><Relationship Id="rId22" Type="http://schemas.openxmlformats.org/officeDocument/2006/relationships/font" Target="fonts/DMSansLight-regular.fntdata"/><Relationship Id="rId21" Type="http://schemas.openxmlformats.org/officeDocument/2006/relationships/font" Target="fonts/Newsreader-boldItalic.fntdata"/><Relationship Id="rId24" Type="http://schemas.openxmlformats.org/officeDocument/2006/relationships/font" Target="fonts/DMSansLight-italic.fntdata"/><Relationship Id="rId23" Type="http://schemas.openxmlformats.org/officeDocument/2006/relationships/font" Target="fonts/DMSansLight-bold.fntdata"/><Relationship Id="rId26" Type="http://schemas.openxmlformats.org/officeDocument/2006/relationships/font" Target="fonts/DMSansSemiBold-regular.fntdata"/><Relationship Id="rId25" Type="http://schemas.openxmlformats.org/officeDocument/2006/relationships/font" Target="fonts/DMSansLight-boldItalic.fntdata"/><Relationship Id="rId28" Type="http://schemas.openxmlformats.org/officeDocument/2006/relationships/font" Target="fonts/DMSansSemiBold-italic.fntdata"/><Relationship Id="rId27" Type="http://schemas.openxmlformats.org/officeDocument/2006/relationships/font" Target="fonts/DMSansSemiBold-bold.fntdata"/><Relationship Id="rId29" Type="http://schemas.openxmlformats.org/officeDocument/2006/relationships/font" Target="fonts/DMSa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Newsreader-bold.fntdata"/><Relationship Id="rId18" Type="http://schemas.openxmlformats.org/officeDocument/2006/relationships/font" Target="fonts/Newsread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8c6ff1c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e8c6ff1c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8c6ff1cb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e8c6ff1cb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8c6ff1cbf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e8c6ff1cbf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8c6ff1cbf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e8c6ff1cbf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e8c6ff1cbf_1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e8c6ff1cbf_1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e8c6ff1cbf_1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e8c6ff1cbf_1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8c6ff1cbf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e8c6ff1cbf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cooper@gmail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7"/>
          <p:cNvSpPr txBox="1"/>
          <p:nvPr>
            <p:ph type="title"/>
          </p:nvPr>
        </p:nvSpPr>
        <p:spPr>
          <a:xfrm>
            <a:off x="363825" y="369300"/>
            <a:ext cx="3860100" cy="21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Gestión de </a:t>
            </a:r>
            <a:r>
              <a:rPr i="1" lang="en"/>
              <a:t>Usuarios, Accesos y Permisos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67"/>
          <p:cNvSpPr txBox="1"/>
          <p:nvPr>
            <p:ph idx="3" type="body"/>
          </p:nvPr>
        </p:nvSpPr>
        <p:spPr>
          <a:xfrm>
            <a:off x="547575" y="2757900"/>
            <a:ext cx="3492600" cy="219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DM Sans"/>
                <a:ea typeface="DM Sans"/>
                <a:cs typeface="DM Sans"/>
                <a:sym typeface="DM Sans"/>
              </a:rPr>
              <a:t>Equipo 4:</a:t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Char char="●"/>
            </a:pPr>
            <a:r>
              <a:rPr lang="en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Aldahir Banda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Char char="●"/>
            </a:pPr>
            <a:r>
              <a:rPr lang="en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Sarahí Franco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Char char="●"/>
            </a:pPr>
            <a:r>
              <a:rPr lang="en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Leonardo Luna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Char char="●"/>
            </a:pPr>
            <a:r>
              <a:rPr lang="en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Victor García Mercel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Char char="●"/>
            </a:pPr>
            <a:r>
              <a:rPr lang="en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Yaomatzin Pérez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Char char="●"/>
            </a:pPr>
            <a:r>
              <a:rPr lang="en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Jessica Santos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5" name="Google Shape;51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5400" y="264113"/>
            <a:ext cx="4615275" cy="46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8"/>
          <p:cNvSpPr txBox="1"/>
          <p:nvPr>
            <p:ph idx="4" type="subTitle"/>
          </p:nvPr>
        </p:nvSpPr>
        <p:spPr>
          <a:xfrm>
            <a:off x="572050" y="1286522"/>
            <a:ext cx="3100800" cy="14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Nombre: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Cooper Rodriguez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Área: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Recursos Humanos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Rol: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Reclutador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Correo: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cooper@generation.org</a:t>
            </a:r>
            <a:endParaRPr/>
          </a:p>
        </p:txBody>
      </p:sp>
      <p:sp>
        <p:nvSpPr>
          <p:cNvPr id="521" name="Google Shape;521;p68"/>
          <p:cNvSpPr txBox="1"/>
          <p:nvPr>
            <p:ph type="title"/>
          </p:nvPr>
        </p:nvSpPr>
        <p:spPr>
          <a:xfrm>
            <a:off x="492375" y="621625"/>
            <a:ext cx="41631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PERFIL DE USUARIO</a:t>
            </a:r>
            <a:endParaRPr i="1" sz="2500"/>
          </a:p>
        </p:txBody>
      </p:sp>
      <p:sp>
        <p:nvSpPr>
          <p:cNvPr id="522" name="Google Shape;522;p68"/>
          <p:cNvSpPr txBox="1"/>
          <p:nvPr/>
        </p:nvSpPr>
        <p:spPr>
          <a:xfrm>
            <a:off x="3891910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3" name="Google Shape;523;p68"/>
          <p:cNvSpPr txBox="1"/>
          <p:nvPr>
            <p:ph type="title"/>
          </p:nvPr>
        </p:nvSpPr>
        <p:spPr>
          <a:xfrm>
            <a:off x="455850" y="2400800"/>
            <a:ext cx="4163100" cy="14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 </a:t>
            </a:r>
            <a:r>
              <a:rPr b="1" lang="en" sz="2600"/>
              <a:t>Herramientas requeridas:</a:t>
            </a:r>
            <a:endParaRPr b="1" sz="26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Outlook (correo)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Teams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SharePoint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OneDrive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VP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pic>
        <p:nvPicPr>
          <p:cNvPr id="524" name="Google Shape;52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00" y="4091518"/>
            <a:ext cx="843025" cy="8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7825" y="4091524"/>
            <a:ext cx="1342924" cy="75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9150" y="4009382"/>
            <a:ext cx="1635650" cy="92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ortrait of a man in profile, silhouetted against a dark blue background. " id="527" name="Google Shape;527;p68"/>
          <p:cNvPicPr preferRelativeResize="0"/>
          <p:nvPr>
            <p:ph idx="2" type="pic"/>
          </p:nvPr>
        </p:nvPicPr>
        <p:blipFill rotWithShape="1">
          <a:blip r:embed="rId6">
            <a:alphaModFix/>
          </a:blip>
          <a:srcRect b="16892" l="0" r="0" t="7999"/>
          <a:stretch/>
        </p:blipFill>
        <p:spPr>
          <a:xfrm flipH="1">
            <a:off x="5361398" y="972100"/>
            <a:ext cx="2695001" cy="303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9"/>
          <p:cNvSpPr/>
          <p:nvPr/>
        </p:nvSpPr>
        <p:spPr>
          <a:xfrm>
            <a:off x="2725" y="1318026"/>
            <a:ext cx="4578600" cy="127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3" name="Google Shape;533;p69"/>
          <p:cNvSpPr/>
          <p:nvPr/>
        </p:nvSpPr>
        <p:spPr>
          <a:xfrm>
            <a:off x="2725" y="2571742"/>
            <a:ext cx="4578600" cy="127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4" name="Google Shape;534;p69"/>
          <p:cNvSpPr/>
          <p:nvPr/>
        </p:nvSpPr>
        <p:spPr>
          <a:xfrm>
            <a:off x="2725" y="3848259"/>
            <a:ext cx="4578600" cy="1276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5" name="Google Shape;535;p69"/>
          <p:cNvSpPr txBox="1"/>
          <p:nvPr>
            <p:ph type="title"/>
          </p:nvPr>
        </p:nvSpPr>
        <p:spPr>
          <a:xfrm>
            <a:off x="399750" y="1455305"/>
            <a:ext cx="3860100" cy="35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    </a:t>
            </a:r>
            <a:r>
              <a:rPr lang="en" sz="1200"/>
              <a:t>   </a:t>
            </a:r>
            <a:r>
              <a:rPr lang="en" sz="1200"/>
              <a:t>Solicitud de alta.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                                          ↓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/>
              <a:t>                                   Recepción del Ticket.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                                          ↓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Validación y aprobación por parte del equipo.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↓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Creación de accesos (M365, OneDrive, SharePoint,                           Teams, VPN, LinkedIN, OCC, Calendario)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↓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Confirmación del nuevo usuario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↓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Documentación y cierre del ticket.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36" name="Google Shape;536;p69"/>
          <p:cNvSpPr txBox="1"/>
          <p:nvPr>
            <p:ph idx="8" type="subTitle"/>
          </p:nvPr>
        </p:nvSpPr>
        <p:spPr>
          <a:xfrm>
            <a:off x="2502225" y="369300"/>
            <a:ext cx="3860100" cy="307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CHECKLIST DE PASOS</a:t>
            </a:r>
            <a:endParaRPr sz="2000"/>
          </a:p>
        </p:txBody>
      </p:sp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212" y="2162113"/>
            <a:ext cx="4087179" cy="20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70"/>
          <p:cNvSpPr txBox="1"/>
          <p:nvPr>
            <p:ph idx="2" type="body"/>
          </p:nvPr>
        </p:nvSpPr>
        <p:spPr>
          <a:xfrm>
            <a:off x="4845475" y="1361028"/>
            <a:ext cx="33825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deeper into a specific insight from the competitive analysis and what it means for your business. </a:t>
            </a:r>
            <a:endParaRPr/>
          </a:p>
        </p:txBody>
      </p:sp>
      <p:sp>
        <p:nvSpPr>
          <p:cNvPr id="544" name="Google Shape;544;p70"/>
          <p:cNvSpPr txBox="1"/>
          <p:nvPr>
            <p:ph idx="3" type="subTitle"/>
          </p:nvPr>
        </p:nvSpPr>
        <p:spPr>
          <a:xfrm>
            <a:off x="4979575" y="1318021"/>
            <a:ext cx="3797100" cy="36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Paso 2. Validación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Gerente de Recursos Humanos revisa la solicitud.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Gerente de Recursos Humanos aprueba la solicitud de creación de accesos para Copper Rodriguez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Jefe directo del nuevo colaborador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Áreas de seguridad de la información (Según políticas de la empresa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verifica que el perfil solicitado corresponda a las funciones del puesto.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validan los accesos requeridos para el puesto de Reclutador.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aprueba la creación de la cuenta y asignación de permisos.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registra la autorización en el ticket.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5" name="Google Shape;545;p70"/>
          <p:cNvSpPr txBox="1"/>
          <p:nvPr>
            <p:ph idx="6" type="body"/>
          </p:nvPr>
        </p:nvSpPr>
        <p:spPr>
          <a:xfrm>
            <a:off x="4845475" y="3870078"/>
            <a:ext cx="33825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your brand and customer segments. Explain why you’re ideally positioned to reach them.  </a:t>
            </a:r>
            <a:endParaRPr/>
          </a:p>
        </p:txBody>
      </p:sp>
      <p:sp>
        <p:nvSpPr>
          <p:cNvPr id="546" name="Google Shape;546;p70"/>
          <p:cNvSpPr txBox="1"/>
          <p:nvPr>
            <p:ph idx="7" type="subTitle"/>
          </p:nvPr>
        </p:nvSpPr>
        <p:spPr>
          <a:xfrm>
            <a:off x="4845475" y="3537427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 3</a:t>
            </a:r>
            <a:endParaRPr/>
          </a:p>
        </p:txBody>
      </p:sp>
      <p:sp>
        <p:nvSpPr>
          <p:cNvPr id="547" name="Google Shape;547;p70"/>
          <p:cNvSpPr txBox="1"/>
          <p:nvPr>
            <p:ph type="title"/>
          </p:nvPr>
        </p:nvSpPr>
        <p:spPr>
          <a:xfrm>
            <a:off x="74725" y="1318025"/>
            <a:ext cx="4209900" cy="3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Paso 1.  Recepción de Solicitud (Ticket)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Información del usuario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La mesa de servicios recibe un ticket de solicitud de alta generado por el área de recursos humanos o por el gerente responsable de contratación.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Los datos que la solicitud debe incluir son: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Nombre completo del nuevo colaborador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Puesto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Departamento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Fecha de ingreso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Jefe inmediato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Herramientas y accesos requeridos.  </a:t>
            </a:r>
            <a:r>
              <a:rPr lang="en" sz="12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cooper@generation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.org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0"/>
          <p:cNvSpPr txBox="1"/>
          <p:nvPr>
            <p:ph idx="8" type="subTitle"/>
          </p:nvPr>
        </p:nvSpPr>
        <p:spPr>
          <a:xfrm>
            <a:off x="2595000" y="369300"/>
            <a:ext cx="3860100" cy="307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DM Sans"/>
                <a:ea typeface="DM Sans"/>
                <a:cs typeface="DM Sans"/>
                <a:sym typeface="DM Sans"/>
              </a:rPr>
              <a:t>FLUJO DE ATENCIÓN</a:t>
            </a:r>
            <a:endParaRPr b="1" sz="20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1"/>
          <p:cNvSpPr txBox="1"/>
          <p:nvPr>
            <p:ph type="title"/>
          </p:nvPr>
        </p:nvSpPr>
        <p:spPr>
          <a:xfrm>
            <a:off x="318750" y="227700"/>
            <a:ext cx="4209900" cy="46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Paso 3.  Acción ejecutada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Una vez autorizada la solicitud, la mesa de servicio procede con el alta de accesos del nuevo empleado: 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Creación de la cuenta de correo corporativo en Microsoft 365 o algún otro servicio de correo electrónico 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Ejemplo: RodríguezCooper@ 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Asignación de espacio en OneDrive u otro servicio de alojamiento de información en la nube. 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Otorgamiento de permisos al SharePoint de Recursos Humanos. 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Habilitación de acceso a Microsoft Teams, u otra plataforma en la cual el nuevo empleado pueda reunirse con los demás colaboradores de la empresa. </a:t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71"/>
          <p:cNvSpPr txBox="1"/>
          <p:nvPr/>
        </p:nvSpPr>
        <p:spPr>
          <a:xfrm>
            <a:off x="4988275" y="1888650"/>
            <a:ext cx="3788400" cy="28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33333"/>
                </a:solidFill>
              </a:rPr>
              <a:t>Configuración de acceso a la VPN corporativa. </a:t>
            </a:r>
            <a:endParaRPr sz="1200">
              <a:solidFill>
                <a:srgbClr val="333333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33333"/>
                </a:solidFill>
              </a:rPr>
              <a:t>Creación o asignación de cuentas en portales de reclutamiento.</a:t>
            </a:r>
            <a:endParaRPr sz="1200">
              <a:solidFill>
                <a:srgbClr val="333333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</a:rPr>
              <a:t>Ejemplos: LinkedIN, Recruiter, OCC, etc</a:t>
            </a:r>
            <a:endParaRPr sz="1200">
              <a:solidFill>
                <a:srgbClr val="333333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33333"/>
                </a:solidFill>
              </a:rPr>
              <a:t>Acceso al calendario corporativo para la programación de entrevistas. </a:t>
            </a:r>
            <a:endParaRPr sz="1200">
              <a:solidFill>
                <a:srgbClr val="333333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333333"/>
                </a:solidFill>
              </a:rPr>
              <a:t>Asignación de grupos de seguridad y listas de distribución necesarias. </a:t>
            </a:r>
            <a:endParaRPr sz="12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200">
                <a:solidFill>
                  <a:srgbClr val="333333"/>
                </a:solidFill>
              </a:rPr>
              <a:t>Todas las actividades realizadas se registran en el ticket.</a:t>
            </a:r>
            <a:endParaRPr/>
          </a:p>
        </p:txBody>
      </p:sp>
      <p:pic>
        <p:nvPicPr>
          <p:cNvPr id="555" name="Google Shape;55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500" y="231575"/>
            <a:ext cx="2967176" cy="16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2"/>
          <p:cNvSpPr txBox="1"/>
          <p:nvPr/>
        </p:nvSpPr>
        <p:spPr>
          <a:xfrm>
            <a:off x="78600" y="937650"/>
            <a:ext cx="4259400" cy="26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33333"/>
                </a:solidFill>
              </a:rPr>
              <a:t>Paso 4. Confirmación con usuario</a:t>
            </a:r>
            <a:endParaRPr b="1" sz="1200">
              <a:solidFill>
                <a:srgbClr val="33333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</a:rPr>
              <a:t>Se confirma la creación y habilitación de los accesos solicitados para el nuevo colaborador. Las credenciales iniciales fueron entregadas conforme a las políticas de seguridad de la organización. </a:t>
            </a:r>
            <a:endParaRPr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Se envían las credenciales temporales al usuario.</a:t>
            </a:r>
            <a:endParaRPr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Se solicita el cambio de contraseña en el primer inicio de sesión.</a:t>
            </a:r>
            <a:endParaRPr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Se verifica que el usuario pueda acceder al correo y herramientas asignadas.</a:t>
            </a:r>
            <a:endParaRPr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Se confirma el correcto funcionamiento de los accesos.</a:t>
            </a:r>
            <a:endParaRPr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El usuario valida que puede realizar sus actividades.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1" name="Google Shape;561;p72"/>
          <p:cNvSpPr txBox="1"/>
          <p:nvPr/>
        </p:nvSpPr>
        <p:spPr>
          <a:xfrm>
            <a:off x="4600800" y="765450"/>
            <a:ext cx="4404000" cy="3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33333"/>
                </a:solidFill>
              </a:rPr>
              <a:t>Paso 5. </a:t>
            </a:r>
            <a:r>
              <a:rPr b="1" lang="en" sz="1200">
                <a:solidFill>
                  <a:srgbClr val="333333"/>
                </a:solidFill>
              </a:rPr>
              <a:t>Documentación</a:t>
            </a:r>
            <a:endParaRPr b="1"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Se registran todas las actividades realizadas en el ticket.</a:t>
            </a:r>
            <a:endParaRPr sz="1200">
              <a:solidFill>
                <a:srgbClr val="333333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</a:rPr>
              <a:t> </a:t>
            </a:r>
            <a:r>
              <a:rPr lang="en" sz="1200">
                <a:solidFill>
                  <a:srgbClr val="333333"/>
                </a:solidFill>
              </a:rPr>
              <a:t>a) </a:t>
            </a:r>
            <a:r>
              <a:rPr lang="en" sz="1200">
                <a:solidFill>
                  <a:srgbClr val="333333"/>
                </a:solidFill>
              </a:rPr>
              <a:t>Número de ticket </a:t>
            </a:r>
            <a:br>
              <a:rPr lang="en" sz="1200">
                <a:solidFill>
                  <a:srgbClr val="333333"/>
                </a:solidFill>
              </a:rPr>
            </a:br>
            <a:r>
              <a:rPr lang="en" sz="1200">
                <a:solidFill>
                  <a:srgbClr val="333333"/>
                </a:solidFill>
              </a:rPr>
              <a:t> b) Fecha y hora de creación de accesos.</a:t>
            </a:r>
            <a:br>
              <a:rPr lang="en" sz="1200">
                <a:solidFill>
                  <a:srgbClr val="333333"/>
                </a:solidFill>
              </a:rPr>
            </a:br>
            <a:r>
              <a:rPr lang="en" sz="1200">
                <a:solidFill>
                  <a:srgbClr val="333333"/>
                </a:solidFill>
              </a:rPr>
              <a:t> c) Sistemas configurados. </a:t>
            </a:r>
            <a:br>
              <a:rPr lang="en" sz="1200">
                <a:solidFill>
                  <a:srgbClr val="333333"/>
                </a:solidFill>
              </a:rPr>
            </a:br>
            <a:r>
              <a:rPr lang="en" sz="1200">
                <a:solidFill>
                  <a:srgbClr val="333333"/>
                </a:solidFill>
              </a:rPr>
              <a:t> d) Responsable de la ejecución.</a:t>
            </a:r>
            <a:br>
              <a:rPr lang="en" sz="1200">
                <a:solidFill>
                  <a:srgbClr val="333333"/>
                </a:solidFill>
              </a:rPr>
            </a:br>
            <a:r>
              <a:rPr lang="en" sz="1200">
                <a:solidFill>
                  <a:srgbClr val="333333"/>
                </a:solidFill>
              </a:rPr>
              <a:t> e) Evidencias de la creación de cuentas.</a:t>
            </a:r>
            <a:br>
              <a:rPr lang="en" sz="1200">
                <a:solidFill>
                  <a:srgbClr val="333333"/>
                </a:solidFill>
              </a:rPr>
            </a:br>
            <a:r>
              <a:rPr lang="en" sz="1200">
                <a:solidFill>
                  <a:srgbClr val="333333"/>
                </a:solidFill>
              </a:rPr>
              <a:t> f) Confirmación del usuario o solicitante. </a:t>
            </a:r>
            <a:br>
              <a:rPr lang="en" sz="1200">
                <a:solidFill>
                  <a:srgbClr val="333333"/>
                </a:solidFill>
              </a:rPr>
            </a:br>
            <a:r>
              <a:rPr lang="en" sz="1200">
                <a:solidFill>
                  <a:srgbClr val="333333"/>
                </a:solidFill>
              </a:rPr>
              <a:t> g) Fecha de cierre del ticket. </a:t>
            </a:r>
            <a:endParaRPr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Se documentan los accesos y permisos otorgados.</a:t>
            </a:r>
            <a:endParaRPr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Se adjuntan las aprobaciones correspondientes.</a:t>
            </a:r>
            <a:endParaRPr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Se registra la fecha y hora de la atención.</a:t>
            </a:r>
            <a:endParaRPr sz="1200">
              <a:solidFill>
                <a:srgbClr val="33333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</a:rPr>
              <a:t>Se cierra el ticket una vez confirmada la correcta operación de los accesos.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3"/>
          <p:cNvSpPr txBox="1"/>
          <p:nvPr>
            <p:ph type="title"/>
          </p:nvPr>
        </p:nvSpPr>
        <p:spPr>
          <a:xfrm>
            <a:off x="2425800" y="64500"/>
            <a:ext cx="42924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Formato de ticket con campos </a:t>
            </a:r>
            <a:endParaRPr/>
          </a:p>
        </p:txBody>
      </p:sp>
      <p:pic>
        <p:nvPicPr>
          <p:cNvPr id="567" name="Google Shape;56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000" y="423975"/>
            <a:ext cx="5403912" cy="446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